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9bb6ee404324bbd" /><Relationship Type="http://schemas.openxmlformats.org/officeDocument/2006/relationships/extended-properties" Target="/docProps/app.xml" Id="R2af6f5bf5942471d" /><Relationship Type="http://schemas.openxmlformats.org/officeDocument/2006/relationships/officeDocument" Target="/ppt/presentation.xml" Id="Recee27f26c3e48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03cf50babbb4218"/>
  </p:sldMasterIdLst>
  <p:notesMasterIdLst>
    <p:notesMasterId xmlns:r="http://schemas.openxmlformats.org/officeDocument/2006/relationships" r:id="Rc3e4414f4e754f89"/>
  </p:notesMasterIdLst>
  <p:sldIdLst>
    <p:sldId xmlns:r="http://schemas.openxmlformats.org/officeDocument/2006/relationships" id="256" r:id="Rbd9437afc1cf4581"/>
    <p:sldId xmlns:r="http://schemas.openxmlformats.org/officeDocument/2006/relationships" id="257" r:id="R3dbb0ce180494838"/>
    <p:sldId xmlns:r="http://schemas.openxmlformats.org/officeDocument/2006/relationships" id="258" r:id="R027f268149c5439c"/>
    <p:sldId xmlns:r="http://schemas.openxmlformats.org/officeDocument/2006/relationships" id="259" r:id="Rc185498c94194cc7"/>
    <p:sldId xmlns:r="http://schemas.openxmlformats.org/officeDocument/2006/relationships" id="260" r:id="R00fb24c613d74c01"/>
    <p:sldId xmlns:r="http://schemas.openxmlformats.org/officeDocument/2006/relationships" id="261" r:id="Rd928720594644965"/>
    <p:sldId xmlns:r="http://schemas.openxmlformats.org/officeDocument/2006/relationships" id="262" r:id="Rc10413d1874946b0"/>
    <p:sldId xmlns:r="http://schemas.openxmlformats.org/officeDocument/2006/relationships" id="263" r:id="R347f5de444b74608"/>
    <p:sldId xmlns:r="http://schemas.openxmlformats.org/officeDocument/2006/relationships" id="264" r:id="Re559911d290241aa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3cf50babbb4218" /><Relationship Type="http://schemas.openxmlformats.org/officeDocument/2006/relationships/theme" Target="/ppt/theme/theme1.xml" Id="R5e8906e95f0a4b2b" /><Relationship Type="http://schemas.openxmlformats.org/officeDocument/2006/relationships/notesMaster" Target="/ppt/notesMasters/notesMaster1.xml" Id="Rc3e4414f4e754f89" /><Relationship Type="http://schemas.openxmlformats.org/officeDocument/2006/relationships/presProps" Target="/ppt/presProps.xml" Id="Rd2427111262842cd" /><Relationship Type="http://schemas.openxmlformats.org/officeDocument/2006/relationships/viewProps" Target="/ppt/viewProps.xml" Id="Rabfa764f9f8341a5" /><Relationship Type="http://schemas.openxmlformats.org/officeDocument/2006/relationships/tableStyles" Target="/ppt/tableStyles.xml" Id="R2cdae0945ea74483" /><Relationship Type="http://schemas.openxmlformats.org/officeDocument/2006/relationships/slide" Target="/ppt/slides/slide1.xml" Id="Rbd9437afc1cf4581" /><Relationship Type="http://schemas.openxmlformats.org/officeDocument/2006/relationships/slide" Target="/ppt/slides/slide2.xml" Id="R3dbb0ce180494838" /><Relationship Type="http://schemas.openxmlformats.org/officeDocument/2006/relationships/slide" Target="/ppt/slides/slide3.xml" Id="R027f268149c5439c" /><Relationship Type="http://schemas.openxmlformats.org/officeDocument/2006/relationships/slide" Target="/ppt/slides/slide4.xml" Id="Rc185498c94194cc7" /><Relationship Type="http://schemas.openxmlformats.org/officeDocument/2006/relationships/slide" Target="/ppt/slides/slide5.xml" Id="R00fb24c613d74c01" /><Relationship Type="http://schemas.openxmlformats.org/officeDocument/2006/relationships/slide" Target="/ppt/slides/slide6.xml" Id="Rd928720594644965" /><Relationship Type="http://schemas.openxmlformats.org/officeDocument/2006/relationships/slide" Target="/ppt/slides/slide7.xml" Id="Rc10413d1874946b0" /><Relationship Type="http://schemas.openxmlformats.org/officeDocument/2006/relationships/slide" Target="/ppt/slides/slide8.xml" Id="R347f5de444b74608" /><Relationship Type="http://schemas.openxmlformats.org/officeDocument/2006/relationships/slide" Target="/ppt/slides/slide9.xml" Id="Re559911d290241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3304273156648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7b07a0adc0a4f05" /><Relationship Type="http://schemas.openxmlformats.org/officeDocument/2006/relationships/notesMaster" Target="/ppt/notesMasters/notesMaster1.xml" Id="Re1951705a75745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fb48ee65f874378" /><Relationship Type="http://schemas.openxmlformats.org/officeDocument/2006/relationships/notesMaster" Target="/ppt/notesMasters/notesMaster1.xml" Id="R5b494af4e75f49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030c683acb4c00" /><Relationship Type="http://schemas.openxmlformats.org/officeDocument/2006/relationships/notesMaster" Target="/ppt/notesMasters/notesMaster1.xml" Id="R8f0fb46e39fb4a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c4a0142934044c0" /><Relationship Type="http://schemas.openxmlformats.org/officeDocument/2006/relationships/notesMaster" Target="/ppt/notesMasters/notesMaster1.xml" Id="Rd716c2a721a949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03e03f56934090" /><Relationship Type="http://schemas.openxmlformats.org/officeDocument/2006/relationships/notesMaster" Target="/ppt/notesMasters/notesMaster1.xml" Id="Ra10ab6c55d1d4b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2cfbf952904a53" /><Relationship Type="http://schemas.openxmlformats.org/officeDocument/2006/relationships/notesMaster" Target="/ppt/notesMasters/notesMaster1.xml" Id="Rf258f2701587488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01dea5e50964c51" /><Relationship Type="http://schemas.openxmlformats.org/officeDocument/2006/relationships/notesMaster" Target="/ppt/notesMasters/notesMaster1.xml" Id="Rb3ca4833f8824e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8893a67809c40d3" /><Relationship Type="http://schemas.openxmlformats.org/officeDocument/2006/relationships/notesMaster" Target="/ppt/notesMasters/notesMaster1.xml" Id="Rf0de7da1e3ac4ca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2fb9c574cad4bf9" /><Relationship Type="http://schemas.openxmlformats.org/officeDocument/2006/relationships/notesMaster" Target="/ppt/notesMasters/notesMaster1.xml" Id="Rd1d2bcf154f3463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2bbf55b2a347b7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281eba0211b74092" /><Relationship Type="http://schemas.openxmlformats.org/officeDocument/2006/relationships/slideLayout" Target="/ppt/slideLayouts/slideLayout2.xml" Id="Rc289300d3bfc470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89300d3bfc470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e48e6cb5704f7c" /><Relationship Type="http://schemas.openxmlformats.org/officeDocument/2006/relationships/image" Target="/ppt/media/image.png" Id="R0f9f7f7295924a25" /><Relationship Type="http://schemas.openxmlformats.org/officeDocument/2006/relationships/notesSlide" Target="/ppt/notesSlides/notesSlide1.xml" Id="Re496e6322b82440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724c50836c4f28" /><Relationship Type="http://schemas.openxmlformats.org/officeDocument/2006/relationships/notesSlide" Target="/ppt/notesSlides/notesSlide2.xml" Id="R88c5cfafe7c6447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d322aff8824b73" /><Relationship Type="http://schemas.openxmlformats.org/officeDocument/2006/relationships/notesSlide" Target="/ppt/notesSlides/notesSlide3.xml" Id="R0d34baf708fe4b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b1d765cf0a415d" /><Relationship Type="http://schemas.openxmlformats.org/officeDocument/2006/relationships/image" Target="/ppt/media/image2.png" Id="R2fa80e8ba89d4582" /><Relationship Type="http://schemas.openxmlformats.org/officeDocument/2006/relationships/notesSlide" Target="/ppt/notesSlides/notesSlide4.xml" Id="R1e04c65302f048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53548feba1420b" /><Relationship Type="http://schemas.openxmlformats.org/officeDocument/2006/relationships/image" Target="/ppt/media/image3.png" Id="R8ed93cda80924f3c" /><Relationship Type="http://schemas.openxmlformats.org/officeDocument/2006/relationships/notesSlide" Target="/ppt/notesSlides/notesSlide5.xml" Id="R771121cf84c240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82326f9def4f92" /><Relationship Type="http://schemas.openxmlformats.org/officeDocument/2006/relationships/notesSlide" Target="/ppt/notesSlides/notesSlide6.xml" Id="R3551d0ff42a443f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2f8198c82964a4f" /><Relationship Type="http://schemas.openxmlformats.org/officeDocument/2006/relationships/notesSlide" Target="/ppt/notesSlides/notesSlide7.xml" Id="Rcd70382d67fd4cc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58cc2deb0754279" /><Relationship Type="http://schemas.openxmlformats.org/officeDocument/2006/relationships/notesSlide" Target="/ppt/notesSlides/notesSlide8.xml" Id="Rab2966c43734475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31ff2057ae34865" /><Relationship Type="http://schemas.openxmlformats.org/officeDocument/2006/relationships/image" Target="/ppt/media/image4.png" Id="Rdc3b0a2f3ffb4c74" /><Relationship Type="http://schemas.openxmlformats.org/officeDocument/2006/relationships/notesSlide" Target="/ppt/notesSlides/notesSlide9.xml" Id="R69cfd0b947c8428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C53DCABA-58D5-402C-B35D-EF6B4D8BC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0FF"/>
          </a:solidFill>
          <a:ln xmlns:a="http://schemas.openxmlformats.org/drawingml/2006/main" w="0">
            <a:solidFill>
              <a:srgbClr val="F4F0FF"/>
            </a:solidFill>
            <a:prstDash val="solid"/>
          </a:ln>
        </p:spPr>
      </p:sp>
      <p:pic>
        <p:nvPicPr>
          <p:cNvPr id="2" name="cover-mascot-boar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9f7f7295924a25"/>
          <a:srcRect xmlns:a="http://schemas.openxmlformats.org/drawingml/2006/main" l="0" t="892" r="0" b="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6000" y="0"/>
            <a:ext cx="8382000" cy="10287000"/>
          </a:xfrm>
          <a:prstGeom xmlns:a="http://schemas.openxmlformats.org/drawingml/2006/main" prst="roundRect">
            <a:avLst>
              <a:gd name="adj" fmla="val 909"/>
            </a:avLst>
          </a:prstGeom>
        </p:spPr>
      </p:pic>
      <p:sp>
        <p:nvSpPr>
          <p:cNvPr id="3" name="cover-white-field">
            <a:extLst xmlns:a="http://schemas.openxmlformats.org/drawingml/2006/main">
              <a:ext uri="{FF2B5EF4-FFF2-40B4-BE49-F238E27FC236}">
                <a16:creationId xmlns:a16="http://schemas.microsoft.com/office/drawing/2014/main" id="{78070A3D-A425-4CA2-9979-20140379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9822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4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792CE7EF-D15E-4352-8C61-61F001F20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26860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8A5CF6"/>
                </a:solidFill>
              </a:defRPr>
            </a:pPr>
            <a:r>
              <a:rPr sz="1650" b="1">
                <a:solidFill>
                  <a:srgbClr val="8A5CF6"/>
                </a:solidFill>
              </a:rPr>
              <a:t>HACKATHON DEMO DECK</a:t>
            </a:r>
          </a:p>
        </p:txBody>
      </p:sp>
      <p:sp>
        <p:nvSpPr>
          <p:cNvPr id="5" name="cover-title-ko">
            <a:extLst xmlns:a="http://schemas.openxmlformats.org/drawingml/2006/main">
              <a:ext uri="{FF2B5EF4-FFF2-40B4-BE49-F238E27FC236}">
                <a16:creationId xmlns:a16="http://schemas.microsoft.com/office/drawing/2014/main" id="{8D20DC6C-C993-45FC-B42E-E47A3B52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5524500" cy="2019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7950" b="1">
                <a:solidFill>
                  <a:srgbClr val="23105B"/>
                </a:solidFill>
              </a:defRPr>
            </a:pPr>
            <a:r>
              <a:rPr sz="7950" b="1">
                <a:solidFill>
                  <a:srgbClr val="23105B"/>
                </a:solidFill>
              </a:rPr>
              <a:t>맥락 보라돌이</a:t>
            </a:r>
          </a:p>
        </p:txBody>
      </p:sp>
      <p:sp>
        <p:nvSpPr>
          <p:cNvPr id="6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1E81A0BB-7DEE-400E-968A-8F551D61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14950"/>
            <a:ext cx="63055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6A46E2"/>
                </a:solidFill>
              </a:defRPr>
            </a:pPr>
            <a:r>
              <a:rPr sz="2550" b="1">
                <a:solidFill>
                  <a:srgbClr val="6A46E2"/>
                </a:solidFill>
              </a:rPr>
              <a:t>흩어진 AI 맥락을 공통 북극성으로 모으는 개인 AI 컨텍스트 허브</a:t>
            </a:r>
          </a:p>
        </p:txBody>
      </p:sp>
      <p:sp>
        <p:nvSpPr>
          <p:cNvPr id="7" name="cover-english">
            <a:extLst xmlns:a="http://schemas.openxmlformats.org/drawingml/2006/main">
              <a:ext uri="{FF2B5EF4-FFF2-40B4-BE49-F238E27FC236}">
                <a16:creationId xmlns:a16="http://schemas.microsoft.com/office/drawing/2014/main" id="{4A804833-2400-4328-9221-4BFC209AC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29350"/>
            <a:ext cx="36576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667085"/>
                </a:solidFill>
              </a:defRPr>
            </a:pPr>
            <a:r>
              <a:rPr sz="1875">
                <a:solidFill>
                  <a:srgbClr val="667085"/>
                </a:solidFill>
              </a:rPr>
              <a:t>Context Boradori · AI Context Hub</a:t>
            </a:r>
          </a:p>
        </p:txBody>
      </p:sp>
      <p:sp>
        <p:nvSpPr>
          <p:cNvPr id="8" name="pill-No externa">
            <a:extLst xmlns:a="http://schemas.openxmlformats.org/drawingml/2006/main">
              <a:ext uri="{FF2B5EF4-FFF2-40B4-BE49-F238E27FC236}">
                <a16:creationId xmlns:a16="http://schemas.microsoft.com/office/drawing/2014/main" id="{549B7B34-6B8A-4382-9F77-FBB13C79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962775"/>
            <a:ext cx="2012728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105B"/>
          </a:solidFill>
          <a:ln xmlns:a="http://schemas.openxmlformats.org/drawingml/2006/main" w="9525">
            <a:solidFill>
              <a:srgbClr val="23105B"/>
            </a:solidFill>
            <a:prstDash val="solid"/>
          </a:ln>
        </p:spPr>
      </p:sp>
      <p:sp>
        <p:nvSpPr>
          <p:cNvPr id="9" name="pill-label">
            <a:extLst xmlns:a="http://schemas.openxmlformats.org/drawingml/2006/main">
              <a:ext uri="{FF2B5EF4-FFF2-40B4-BE49-F238E27FC236}">
                <a16:creationId xmlns:a16="http://schemas.microsoft.com/office/drawing/2014/main" id="{CAD88A56-BF5F-4466-B843-AB3E7183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86600"/>
            <a:ext cx="1562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 external API</a:t>
            </a:r>
          </a:p>
        </p:txBody>
      </p:sp>
      <p:sp>
        <p:nvSpPr>
          <p:cNvPr id="10" name="pill-Local-firs">
            <a:extLst xmlns:a="http://schemas.openxmlformats.org/drawingml/2006/main">
              <a:ext uri="{FF2B5EF4-FFF2-40B4-BE49-F238E27FC236}">
                <a16:creationId xmlns:a16="http://schemas.microsoft.com/office/drawing/2014/main" id="{4CCB8E8E-1BF5-4114-A89E-F11BBA401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0478" y="6962775"/>
            <a:ext cx="2005108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A5CF6"/>
          </a:solidFill>
          <a:ln xmlns:a="http://schemas.openxmlformats.org/drawingml/2006/main" w="9525">
            <a:solidFill>
              <a:srgbClr val="8A5CF6"/>
            </a:solidFill>
            <a:prstDash val="solid"/>
          </a:ln>
        </p:spPr>
      </p:sp>
      <p:sp>
        <p:nvSpPr>
          <p:cNvPr id="11" name="pill-label">
            <a:extLst xmlns:a="http://schemas.openxmlformats.org/drawingml/2006/main">
              <a:ext uri="{FF2B5EF4-FFF2-40B4-BE49-F238E27FC236}">
                <a16:creationId xmlns:a16="http://schemas.microsoft.com/office/drawing/2014/main" id="{FC87B1A9-69CC-4C4D-A41C-E99C7A99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7086600"/>
            <a:ext cx="1543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Local-first MVP</a:t>
            </a:r>
          </a:p>
        </p:txBody>
      </p:sp>
      <p:sp>
        <p:nvSpPr>
          <p:cNvPr id="12" name="pill-Vercel liv">
            <a:extLst xmlns:a="http://schemas.openxmlformats.org/drawingml/2006/main">
              <a:ext uri="{FF2B5EF4-FFF2-40B4-BE49-F238E27FC236}">
                <a16:creationId xmlns:a16="http://schemas.microsoft.com/office/drawing/2014/main" id="{F03FABA5-0F12-4987-A1EE-AE145FF8B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8935" y="6962775"/>
            <a:ext cx="1466088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9525">
            <a:solidFill>
              <a:srgbClr val="FFC857"/>
            </a:solidFill>
            <a:prstDash val="solid"/>
          </a:ln>
        </p:spPr>
      </p:sp>
      <p:sp>
        <p:nvSpPr>
          <p:cNvPr id="13" name="pill-label">
            <a:extLst xmlns:a="http://schemas.openxmlformats.org/drawingml/2006/main">
              <a:ext uri="{FF2B5EF4-FFF2-40B4-BE49-F238E27FC236}">
                <a16:creationId xmlns:a16="http://schemas.microsoft.com/office/drawing/2014/main" id="{A683A94F-903E-4007-9C0E-DBA6F8A0E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7086600"/>
            <a:ext cx="10096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105B"/>
                </a:solidFill>
              </a:defRPr>
            </a:pPr>
            <a:r>
              <a:rPr sz="1650" b="1">
                <a:solidFill>
                  <a:srgbClr val="23105B"/>
                </a:solidFill>
              </a:rPr>
              <a:t>Vercel live</a:t>
            </a:r>
          </a:p>
        </p:txBody>
      </p:sp>
      <p:sp>
        <p:nvSpPr>
          <p:cNvPr id="14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E5ED2CE1-4AB5-4C31-AB36-2A16EF4B3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77350"/>
            <a:ext cx="2667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GitHub: misolove/context-boradori</a:t>
            </a:r>
          </a:p>
        </p:txBody>
      </p:sp>
      <p:sp>
        <p:nvSpPr>
          <p:cNvPr id="15" name="footer-url">
            <a:extLst xmlns:a="http://schemas.openxmlformats.org/drawingml/2006/main">
              <a:ext uri="{FF2B5EF4-FFF2-40B4-BE49-F238E27FC236}">
                <a16:creationId xmlns:a16="http://schemas.microsoft.com/office/drawing/2014/main" id="{2B13C1A9-7BCA-47CB-A8F5-4099FA68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3535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9239014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7C956875-1B6F-4F2B-A1B4-1844121E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F"/>
          </a:solidFill>
          <a:ln xmlns:a="http://schemas.openxmlformats.org/drawingml/2006/main" w="0">
            <a:solidFill>
              <a:srgbClr val="FCFA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13681C2-3F54-41F6-B734-0BF0411EA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123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01 · Problem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6202C82-57A7-4495-A5CE-213A2556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28700"/>
            <a:ext cx="110871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AI 도구를 많이 쓸수록, 프로젝트 기억은 더 빨리 흩어집니다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37B9BED-69AA-4853-A4D7-0F631A5EC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8420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대화는 늘어나는데 공통 기억은 생기지 않아서 매번 같은 설명을 반복하게 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A30EF6-1994-47DA-A8C8-E7222EC51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53050"/>
            <a:ext cx="5276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094FF"/>
                </a:solidFill>
              </a:defRPr>
            </a:pPr>
            <a:r>
              <a:rPr sz="2100" b="1">
                <a:solidFill>
                  <a:srgbClr val="B094FF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A3C26B-E22F-4F7C-A3FD-3E518C00A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52768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3105B"/>
                </a:solidFill>
              </a:defRPr>
            </a:pPr>
            <a:r>
              <a:rPr sz="3300" b="1">
                <a:solidFill>
                  <a:srgbClr val="23105B"/>
                </a:solidFill>
              </a:rPr>
              <a:t>반복 설명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5B78CDD-3AC1-4DCA-B6DB-C87C23818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43650"/>
            <a:ext cx="52768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67085"/>
                </a:solidFill>
              </a:defRPr>
            </a:pPr>
            <a:r>
              <a:rPr sz="1950">
                <a:solidFill>
                  <a:srgbClr val="667085"/>
                </a:solidFill>
              </a:rPr>
              <a:t>새 AI에게 배경, 결정, 현재 상태를 다시 설명합니다.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02BD-AE32-492D-AC6D-7520CE0B2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38750"/>
            <a:ext cx="5276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094FF"/>
                </a:solidFill>
              </a:defRPr>
            </a:pPr>
            <a:r>
              <a:rPr sz="2100" b="1">
                <a:solidFill>
                  <a:srgbClr val="B094FF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FD34E0-1301-428A-834B-6D47F6B7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57850"/>
            <a:ext cx="52768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3105B"/>
                </a:solidFill>
              </a:defRPr>
            </a:pPr>
            <a:r>
              <a:rPr sz="3300" b="1">
                <a:solidFill>
                  <a:srgbClr val="23105B"/>
                </a:solidFill>
              </a:rPr>
              <a:t>결정 유실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30E77-DF2C-4941-89AD-89B276DE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229350"/>
            <a:ext cx="527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67085"/>
                </a:solidFill>
              </a:defRPr>
            </a:pPr>
            <a:r>
              <a:rPr sz="1950">
                <a:solidFill>
                  <a:srgbClr val="667085"/>
                </a:solidFill>
              </a:rPr>
              <a:t>확정된 결정과 미확정 아이디어가 같은 채팅 안에 섞입니다.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0C7A83-7FC1-4EFF-AE9A-24AD8A4AC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238750"/>
            <a:ext cx="52768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094FF"/>
                </a:solidFill>
              </a:defRPr>
            </a:pPr>
            <a:r>
              <a:rPr sz="2100" b="1">
                <a:solidFill>
                  <a:srgbClr val="B094FF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705F00-C203-49FE-AA30-14E3975C8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657850"/>
            <a:ext cx="52768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3105B"/>
                </a:solidFill>
              </a:defRPr>
            </a:pPr>
            <a:r>
              <a:rPr sz="3300" b="1">
                <a:solidFill>
                  <a:srgbClr val="23105B"/>
                </a:solidFill>
              </a:rPr>
              <a:t>병렬 맥락 충돌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0D649A-BAEC-405D-A8B5-B624BD96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6229350"/>
            <a:ext cx="52768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667085"/>
                </a:solidFill>
              </a:defRPr>
            </a:pPr>
            <a:r>
              <a:rPr sz="1950">
                <a:solidFill>
                  <a:srgbClr val="667085"/>
                </a:solidFill>
              </a:rPr>
              <a:t>ChatGPT, Claude, Codex, Gemini가 서로 다른 방향으로 이어갑니다.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4F5C8-C4AD-4B39-BEB4-5A154940F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3726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solidFill>
              <a:srgbClr val="FFC85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385607-FC7E-4271-AEA4-A8409B9F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9315450"/>
            <a:ext cx="160401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105B"/>
                </a:solidFill>
              </a:defRPr>
            </a:pPr>
            <a:r>
              <a:rPr sz="2250" b="1">
                <a:solidFill>
                  <a:srgbClr val="23105B"/>
                </a:solidFill>
              </a:rPr>
              <a:t>핵심 문제: AI가 부족한 것이 아니라, AI 사이를 잇는 공통맥락이 부족합니다.</a:t>
            </a:r>
          </a:p>
        </p:txBody>
      </p:sp>
    </p:spTree>
    <p:extLst>
      <p:ext uri="{BB962C8B-B14F-4D97-AF65-F5344CB8AC3E}">
        <p14:creationId xmlns:p14="http://schemas.microsoft.com/office/powerpoint/2010/main" val="42880956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2978615E-0779-4D82-B34B-1FD258072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C52F547B-7805-4BE3-92D6-281299683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12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02 · Solution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133E92-2071-48B8-8247-41A951343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19200"/>
            <a:ext cx="102489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맥락 보라돌이는 여러 AI 대화를 하나의 공통 handoff로 바꿉니다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5EEB59C6-37D8-496C-B80C-BC54276D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94869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붙여넣기만 하면 결정사항, 열린 질문, 다음 액션, 도구별 export가 한 방향으로 정리됩니다.</a:t>
            </a:r>
          </a:p>
        </p:txBody>
      </p:sp>
      <p:sp>
        <p:nvSpPr>
          <p:cNvPr id="5" name="pill-Sources">
            <a:extLst xmlns:a="http://schemas.openxmlformats.org/drawingml/2006/main">
              <a:ext uri="{FF2B5EF4-FFF2-40B4-BE49-F238E27FC236}">
                <a16:creationId xmlns:a16="http://schemas.microsoft.com/office/drawing/2014/main" id="{1F30B600-939E-450F-8CE8-41747F856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62550"/>
            <a:ext cx="1276255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4F0FF"/>
          </a:solidFill>
          <a:ln xmlns:a="http://schemas.openxmlformats.org/drawingml/2006/main" w="9525">
            <a:solidFill>
              <a:srgbClr val="F4F0FF"/>
            </a:solidFill>
            <a:prstDash val="solid"/>
          </a:ln>
        </p:spPr>
      </p:sp>
      <p:sp>
        <p:nvSpPr>
          <p:cNvPr id="6" name="pill-label">
            <a:extLst xmlns:a="http://schemas.openxmlformats.org/drawingml/2006/main">
              <a:ext uri="{FF2B5EF4-FFF2-40B4-BE49-F238E27FC236}">
                <a16:creationId xmlns:a16="http://schemas.microsoft.com/office/drawing/2014/main" id="{C1142B05-E8CF-47C6-8059-0D4DABAB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819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105B"/>
                </a:solidFill>
              </a:defRPr>
            </a:pPr>
            <a:r>
              <a:rPr sz="1650" b="1">
                <a:solidFill>
                  <a:srgbClr val="23105B"/>
                </a:solidFill>
              </a:rPr>
              <a:t>Sources</a:t>
            </a:r>
          </a:p>
        </p:txBody>
      </p:sp>
      <p:sp>
        <p:nvSpPr>
          <p:cNvPr id="7" name="bullet-dot">
            <a:extLst xmlns:a="http://schemas.openxmlformats.org/drawingml/2006/main">
              <a:ext uri="{FF2B5EF4-FFF2-40B4-BE49-F238E27FC236}">
                <a16:creationId xmlns:a16="http://schemas.microsoft.com/office/drawing/2014/main" id="{1B8BBF14-CB72-44C2-B06C-9AFB3E270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772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8A0E5F2-A1A2-4D01-A1D2-1D94A2718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7215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ChatGPT 기획 맥락</a:t>
            </a:r>
          </a:p>
        </p:txBody>
      </p:sp>
      <p:sp>
        <p:nvSpPr>
          <p:cNvPr id="9" name="bullet-dot">
            <a:extLst xmlns:a="http://schemas.openxmlformats.org/drawingml/2006/main">
              <a:ext uri="{FF2B5EF4-FFF2-40B4-BE49-F238E27FC236}">
                <a16:creationId xmlns:a16="http://schemas.microsoft.com/office/drawing/2014/main" id="{8D500437-8ED9-4EF7-8410-E8CB1C93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210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B8FF"/>
          </a:solidFill>
          <a:ln xmlns:a="http://schemas.openxmlformats.org/drawingml/2006/main" w="0">
            <a:solidFill>
              <a:srgbClr val="6EB8FF"/>
            </a:solidFill>
            <a:prstDash val="solid"/>
          </a:ln>
        </p:spPr>
      </p:sp>
      <p:sp>
        <p:nvSpPr>
          <p:cNvPr id="1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84023BE-688F-4A4A-9D1F-43D86FAED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21030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Codex 구현 맥락</a:t>
            </a:r>
          </a:p>
        </p:txBody>
      </p:sp>
      <p:sp>
        <p:nvSpPr>
          <p:cNvPr id="11" name="bullet-dot">
            <a:extLst xmlns:a="http://schemas.openxmlformats.org/drawingml/2006/main">
              <a:ext uri="{FF2B5EF4-FFF2-40B4-BE49-F238E27FC236}">
                <a16:creationId xmlns:a16="http://schemas.microsoft.com/office/drawing/2014/main" id="{37EDF2BC-2BC8-4799-92A2-F04EC32E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48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1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EE003F3-45B1-43F7-A131-8D04FB95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4845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Claude 리뷰 맥락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62DB21A1-6F6C-496F-B22D-FBF43DFC2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8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0C6"/>
          </a:solidFill>
          <a:ln xmlns:a="http://schemas.openxmlformats.org/drawingml/2006/main" w="0">
            <a:solidFill>
              <a:srgbClr val="FFB0C6"/>
            </a:solidFill>
            <a:prstDash val="solid"/>
          </a:ln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B91BC68-7685-4D71-869B-AC34A6A7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08660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Gemini 실험 맥락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5A8701-0F09-409C-B8B7-A87B00F6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924550"/>
            <a:ext cx="666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B094FF"/>
                </a:solidFill>
              </a:defRPr>
            </a:pPr>
            <a:r>
              <a:rPr sz="5250" b="1">
                <a:solidFill>
                  <a:srgbClr val="B094FF"/>
                </a:solidFill>
              </a:rPr>
              <a:t>→</a:t>
            </a:r>
          </a:p>
        </p:txBody>
      </p:sp>
      <p:sp>
        <p:nvSpPr>
          <p:cNvPr id="16" name="north-star-center">
            <a:extLst xmlns:a="http://schemas.openxmlformats.org/drawingml/2006/main">
              <a:ext uri="{FF2B5EF4-FFF2-40B4-BE49-F238E27FC236}">
                <a16:creationId xmlns:a16="http://schemas.microsoft.com/office/drawing/2014/main" id="{2645F167-5B97-41C4-987B-A278675A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7956" y="5219700"/>
            <a:ext cx="5272088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23105B"/>
          </a:solidFill>
          <a:ln xmlns:a="http://schemas.openxmlformats.org/drawingml/2006/main" w="9525">
            <a:solidFill>
              <a:srgbClr val="231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0CB1B1-5104-4F46-B166-1A41A87D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543550"/>
            <a:ext cx="45529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C857"/>
                </a:solidFill>
              </a:defRPr>
            </a:pPr>
            <a:r>
              <a:rPr sz="1875" b="1">
                <a:solidFill>
                  <a:srgbClr val="FFC857"/>
                </a:solidFill>
              </a:rPr>
              <a:t>North Star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66DEDE-67BD-447A-B2D5-896A366D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962650"/>
            <a:ext cx="4552950" cy="1028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FFFF"/>
                </a:solidFill>
              </a:defRPr>
            </a:pPr>
            <a:r>
              <a:rPr sz="2700" b="1">
                <a:solidFill>
                  <a:srgbClr val="FFFFFF"/>
                </a:solidFill>
              </a:rPr>
              <a:t>확정된 결정은 지키고, 열린 질문은 분리하며, 다음 AI가 같은 방향으로 이어서 실행하게 만든다.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96312-39E1-46F1-92BD-3C38AB31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9600" y="5924550"/>
            <a:ext cx="6667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250" b="1">
                <a:solidFill>
                  <a:srgbClr val="B094FF"/>
                </a:solidFill>
              </a:defRPr>
            </a:pPr>
            <a:r>
              <a:rPr sz="5250" b="1">
                <a:solidFill>
                  <a:srgbClr val="B094FF"/>
                </a:solidFill>
              </a:rPr>
              <a:t>→</a:t>
            </a:r>
          </a:p>
        </p:txBody>
      </p:sp>
      <p:sp>
        <p:nvSpPr>
          <p:cNvPr id="20" name="pill-Exports">
            <a:extLst xmlns:a="http://schemas.openxmlformats.org/drawingml/2006/main">
              <a:ext uri="{FF2B5EF4-FFF2-40B4-BE49-F238E27FC236}">
                <a16:creationId xmlns:a16="http://schemas.microsoft.com/office/drawing/2014/main" id="{DE0BE483-3231-41F9-868F-C48D8F53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0194" y="5162550"/>
            <a:ext cx="1229392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A46E2"/>
          </a:solidFill>
          <a:ln xmlns:a="http://schemas.openxmlformats.org/drawingml/2006/main" w="9525">
            <a:solidFill>
              <a:srgbClr val="6A46E2"/>
            </a:solidFill>
            <a:prstDash val="solid"/>
          </a:ln>
        </p:spPr>
      </p:sp>
      <p:sp>
        <p:nvSpPr>
          <p:cNvPr id="21" name="pill-label">
            <a:extLst xmlns:a="http://schemas.openxmlformats.org/drawingml/2006/main">
              <a:ext uri="{FF2B5EF4-FFF2-40B4-BE49-F238E27FC236}">
                <a16:creationId xmlns:a16="http://schemas.microsoft.com/office/drawing/2014/main" id="{5B357EAD-DB10-46B7-B844-69353401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5276850"/>
            <a:ext cx="7810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Exports</a:t>
            </a:r>
          </a:p>
        </p:txBody>
      </p:sp>
      <p:sp>
        <p:nvSpPr>
          <p:cNvPr id="22" name="bullet-dot">
            <a:extLst xmlns:a="http://schemas.openxmlformats.org/drawingml/2006/main">
              <a:ext uri="{FF2B5EF4-FFF2-40B4-BE49-F238E27FC236}">
                <a16:creationId xmlns:a16="http://schemas.microsoft.com/office/drawing/2014/main" id="{FBE4B52A-16BD-4C14-A974-F017C2336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3050" y="5772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05B"/>
          </a:solidFill>
          <a:ln xmlns:a="http://schemas.openxmlformats.org/drawingml/2006/main" w="0">
            <a:solidFill>
              <a:srgbClr val="23105B"/>
            </a:solidFill>
            <a:prstDash val="solid"/>
          </a:ln>
        </p:spPr>
      </p:sp>
      <p:sp>
        <p:nvSpPr>
          <p:cNvPr id="2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7F905C41-957F-4C0D-9572-5DA224EA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0" y="577215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handoff.md</a:t>
            </a:r>
          </a:p>
        </p:txBody>
      </p:sp>
      <p:sp>
        <p:nvSpPr>
          <p:cNvPr id="24" name="bullet-dot">
            <a:extLst xmlns:a="http://schemas.openxmlformats.org/drawingml/2006/main">
              <a:ext uri="{FF2B5EF4-FFF2-40B4-BE49-F238E27FC236}">
                <a16:creationId xmlns:a16="http://schemas.microsoft.com/office/drawing/2014/main" id="{E58A3D0C-76C2-43FA-8A61-2F7493A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3050" y="62103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05B"/>
          </a:solidFill>
          <a:ln xmlns:a="http://schemas.openxmlformats.org/drawingml/2006/main" w="0">
            <a:solidFill>
              <a:srgbClr val="23105B"/>
            </a:solidFill>
            <a:prstDash val="solid"/>
          </a:ln>
        </p:spPr>
      </p:sp>
      <p:sp>
        <p:nvSpPr>
          <p:cNvPr id="25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041D1C7-9F6F-4366-BA9B-C7EE48AC6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0" y="621030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AGENTS.md</a:t>
            </a:r>
          </a:p>
        </p:txBody>
      </p:sp>
      <p:sp>
        <p:nvSpPr>
          <p:cNvPr id="26" name="bullet-dot">
            <a:extLst xmlns:a="http://schemas.openxmlformats.org/drawingml/2006/main">
              <a:ext uri="{FF2B5EF4-FFF2-40B4-BE49-F238E27FC236}">
                <a16:creationId xmlns:a16="http://schemas.microsoft.com/office/drawing/2014/main" id="{BBB08D0A-0C61-4D08-9770-C98538A67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3050" y="6648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05B"/>
          </a:solidFill>
          <a:ln xmlns:a="http://schemas.openxmlformats.org/drawingml/2006/main" w="0">
            <a:solidFill>
              <a:srgbClr val="23105B"/>
            </a:solidFill>
            <a:prstDash val="solid"/>
          </a:ln>
        </p:spPr>
      </p:sp>
      <p:sp>
        <p:nvSpPr>
          <p:cNvPr id="2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5565332B-7009-4E91-819D-2828AC1C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0" y="664845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CLAUDE.md</a:t>
            </a:r>
          </a:p>
        </p:txBody>
      </p:sp>
      <p:sp>
        <p:nvSpPr>
          <p:cNvPr id="28" name="bullet-dot">
            <a:extLst xmlns:a="http://schemas.openxmlformats.org/drawingml/2006/main">
              <a:ext uri="{FF2B5EF4-FFF2-40B4-BE49-F238E27FC236}">
                <a16:creationId xmlns:a16="http://schemas.microsoft.com/office/drawing/2014/main" id="{81913BB8-36B3-4D45-96D2-10AE88EF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73050" y="7086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105B"/>
          </a:solidFill>
          <a:ln xmlns:a="http://schemas.openxmlformats.org/drawingml/2006/main" w="0">
            <a:solidFill>
              <a:srgbClr val="23105B"/>
            </a:solidFill>
            <a:prstDash val="solid"/>
          </a:ln>
        </p:spPr>
      </p:sp>
      <p:sp>
        <p:nvSpPr>
          <p:cNvPr id="2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0B11D8F1-708B-4829-8093-30B5CF08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7850" y="7086600"/>
            <a:ext cx="4095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GEMINI.md</a:t>
            </a:r>
          </a:p>
        </p:txBody>
      </p:sp>
      <p:sp>
        <p:nvSpPr>
          <p:cNvPr id="30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3853F7DC-0910-43F4-BFC4-6CB5BBBD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29750"/>
            <a:ext cx="2400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맥락 보라돌이 · Context Boradori</a:t>
            </a:r>
          </a:p>
        </p:txBody>
      </p:sp>
      <p:sp>
        <p:nvSpPr>
          <p:cNvPr id="31" name="footer-url">
            <a:extLst xmlns:a="http://schemas.openxmlformats.org/drawingml/2006/main">
              <a:ext uri="{FF2B5EF4-FFF2-40B4-BE49-F238E27FC236}">
                <a16:creationId xmlns:a16="http://schemas.microsoft.com/office/drawing/2014/main" id="{D534824F-BFE3-4AB6-BA12-62FCED8FB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4297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192082015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F374952C-E9A7-401F-8078-BD0310E7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F"/>
          </a:solidFill>
          <a:ln xmlns:a="http://schemas.openxmlformats.org/drawingml/2006/main" w="0">
            <a:solidFill>
              <a:srgbClr val="FCFA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D33FFD77-98A4-40F3-BF24-A102D944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5811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03 · Product Flow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17B6D2-1EC1-4218-848C-26FA7E001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28700"/>
            <a:ext cx="6953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사용 흐름은 4단계로 끝납니다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3785FC9-C65A-41EE-B05C-93D27C70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71650"/>
            <a:ext cx="88582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수동 붙여넣기라는 MVP 제약 안에서도, 다음 AI가 바로 이어받을 결과물을 만듭니다.</a:t>
            </a:r>
          </a:p>
        </p:txBody>
      </p:sp>
      <p:sp>
        <p:nvSpPr>
          <p:cNvPr id="5" name="metric-number">
            <a:extLst xmlns:a="http://schemas.openxmlformats.org/drawingml/2006/main">
              <a:ext uri="{FF2B5EF4-FFF2-40B4-BE49-F238E27FC236}">
                <a16:creationId xmlns:a16="http://schemas.microsoft.com/office/drawing/2014/main" id="{DE3AE681-AB76-49DB-A87C-ECA78A609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7620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6A46E2"/>
                </a:solidFill>
              </a:defRPr>
            </a:pPr>
            <a:r>
              <a:rPr sz="5400" b="1">
                <a:solidFill>
                  <a:srgbClr val="6A46E2"/>
                </a:solidFill>
              </a:rPr>
              <a:t>1</a:t>
            </a:r>
          </a:p>
        </p:txBody>
      </p:sp>
      <p:sp>
        <p:nvSpPr>
          <p:cNvPr id="6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429052FC-E583-4E3E-88EE-0057722B7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7620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AI 도구에서 raw context를 붙여넣기</a:t>
            </a:r>
          </a:p>
        </p:txBody>
      </p:sp>
      <p:sp>
        <p:nvSpPr>
          <p:cNvPr id="7" name="metric-number">
            <a:extLst xmlns:a="http://schemas.openxmlformats.org/drawingml/2006/main">
              <a:ext uri="{FF2B5EF4-FFF2-40B4-BE49-F238E27FC236}">
                <a16:creationId xmlns:a16="http://schemas.microsoft.com/office/drawing/2014/main" id="{2651D357-F837-4FF3-BF63-92459D55C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43450"/>
            <a:ext cx="7620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6EB8FF"/>
                </a:solidFill>
              </a:defRPr>
            </a:pPr>
            <a:r>
              <a:rPr sz="5400" b="1">
                <a:solidFill>
                  <a:srgbClr val="6EB8FF"/>
                </a:solidFill>
              </a:rPr>
              <a:t>2</a:t>
            </a:r>
          </a:p>
        </p:txBody>
      </p:sp>
      <p:sp>
        <p:nvSpPr>
          <p:cNvPr id="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D3C8FB9D-C446-4EFB-AC47-4DDA5A08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7620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공통맥락 수집함에 여러 조각 추가</a:t>
            </a:r>
          </a:p>
        </p:txBody>
      </p:sp>
      <p:sp>
        <p:nvSpPr>
          <p:cNvPr id="9" name="metric-number">
            <a:extLst xmlns:a="http://schemas.openxmlformats.org/drawingml/2006/main">
              <a:ext uri="{FF2B5EF4-FFF2-40B4-BE49-F238E27FC236}">
                <a16:creationId xmlns:a16="http://schemas.microsoft.com/office/drawing/2014/main" id="{14A0DC15-0685-4736-9947-8B7232F42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0"/>
            <a:ext cx="7620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74E3C1"/>
                </a:solidFill>
              </a:defRPr>
            </a:pPr>
            <a:r>
              <a:rPr sz="5400" b="1">
                <a:solidFill>
                  <a:srgbClr val="74E3C1"/>
                </a:solidFill>
              </a:rPr>
              <a:t>3</a:t>
            </a:r>
          </a:p>
        </p:txBody>
      </p:sp>
      <p:sp>
        <p:nvSpPr>
          <p:cNvPr id="10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9F9980CA-DE50-47B0-9958-4BEB4888B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29400"/>
            <a:ext cx="7620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북극성을 기준으로 병합</a:t>
            </a:r>
          </a:p>
        </p:txBody>
      </p:sp>
      <p:sp>
        <p:nvSpPr>
          <p:cNvPr id="11" name="metric-number">
            <a:extLst xmlns:a="http://schemas.openxmlformats.org/drawingml/2006/main">
              <a:ext uri="{FF2B5EF4-FFF2-40B4-BE49-F238E27FC236}">
                <a16:creationId xmlns:a16="http://schemas.microsoft.com/office/drawing/2014/main" id="{CD499751-FC83-4B5E-B85E-97C18497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67550"/>
            <a:ext cx="76200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FFC857"/>
                </a:solidFill>
              </a:defRPr>
            </a:pPr>
            <a:r>
              <a:rPr sz="5400" b="1">
                <a:solidFill>
                  <a:srgbClr val="FFC857"/>
                </a:solidFill>
              </a:rPr>
              <a:t>4</a:t>
            </a:r>
          </a:p>
        </p:txBody>
      </p:sp>
      <p:sp>
        <p:nvSpPr>
          <p:cNvPr id="12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477B536-4F4D-432B-9453-047C3F78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791450"/>
            <a:ext cx="7620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F2937"/>
                </a:solidFill>
              </a:defRPr>
            </a:pPr>
            <a:r>
              <a:rPr sz="1650" b="1">
                <a:solidFill>
                  <a:srgbClr val="1F2937"/>
                </a:solidFill>
              </a:rPr>
              <a:t>다음 AI용 handoff/export 다운로드</a:t>
            </a:r>
          </a:p>
        </p:txBody>
      </p:sp>
      <p:pic>
        <p:nvPicPr>
          <p:cNvPr id="13" name="live-hero-screensho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80e8ba89d4582"/>
          <a:srcRect xmlns:a="http://schemas.openxmlformats.org/drawingml/2006/main" l="3204" t="0" r="320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952548" y="2667000"/>
            <a:ext cx="8421053" cy="6248400"/>
          </a:xfrm>
          <a:prstGeom xmlns:a="http://schemas.openxmlformats.org/drawingml/2006/main" prst="roundRect">
            <a:avLst>
              <a:gd name="adj" fmla="val 1220"/>
            </a:avLst>
          </a:prstGeom>
        </p:spPr>
      </p:pic>
      <p:sp>
        <p:nvSpPr>
          <p:cNvPr id="14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0379C52-6D6C-4087-8A2F-7FCE5048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58300"/>
            <a:ext cx="16192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Live MVP screenshot</a:t>
            </a:r>
          </a:p>
        </p:txBody>
      </p:sp>
      <p:sp>
        <p:nvSpPr>
          <p:cNvPr id="15" name="footer-url">
            <a:extLst xmlns:a="http://schemas.openxmlformats.org/drawingml/2006/main">
              <a:ext uri="{FF2B5EF4-FFF2-40B4-BE49-F238E27FC236}">
                <a16:creationId xmlns:a16="http://schemas.microsoft.com/office/drawing/2014/main" id="{CE4AB891-3765-4D24-B7D8-31D3278C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33450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129685844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7B106086-4E0A-44DE-8CD1-74C8BF9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1ABFBA0B-BC47-4D9B-AFF5-C2702275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333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04 · Live Demo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FF4816-3075-4B81-996A-A3B080F6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19200"/>
            <a:ext cx="1141095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지금 돌아가는 MVP는 공통맥락 지도와 handoff export까지 연결됩니다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30208C24-C5D3-4F5B-8876-A48E133F3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5905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한국어 기본 화면과 영어 심사용 화면을 모두 지원합니다.</a:t>
            </a:r>
          </a:p>
        </p:txBody>
      </p:sp>
      <p:pic>
        <p:nvPicPr>
          <p:cNvPr id="5" name="context-map-screenshot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93cda80924f3c"/>
          <a:stretch xmlns:a="http://schemas.openxmlformats.org/drawingml/2006/main"/>
        </p:blipFill>
        <p:spPr>
          <a:xfrm xmlns:a="http://schemas.openxmlformats.org/drawingml/2006/main">
            <a:off x="3709749" y="3448050"/>
            <a:ext cx="2860358" cy="5448300"/>
          </a:xfrm>
          <a:prstGeom xmlns:a="http://schemas.openxmlformats.org/drawingml/2006/main" prst="roundRect">
            <a:avLst>
              <a:gd name="adj" fmla="val 1399"/>
            </a:avLst>
          </a:prstGeom>
        </p:spPr>
      </p:pic>
      <p:sp>
        <p:nvSpPr>
          <p:cNvPr id="6" name="bullet-dot">
            <a:extLst xmlns:a="http://schemas.openxmlformats.org/drawingml/2006/main">
              <a:ext uri="{FF2B5EF4-FFF2-40B4-BE49-F238E27FC236}">
                <a16:creationId xmlns:a16="http://schemas.microsoft.com/office/drawing/2014/main" id="{EC4E32EE-87D1-43EC-84F5-7ABF894A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4480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A9F5C5A-149B-47F0-BCE2-37EC0453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448050"/>
            <a:ext cx="7334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소스별 맥락 조각을 시각적으로 연결</a:t>
            </a:r>
          </a:p>
        </p:txBody>
      </p:sp>
      <p:sp>
        <p:nvSpPr>
          <p:cNvPr id="8" name="bullet-dot">
            <a:extLst xmlns:a="http://schemas.openxmlformats.org/drawingml/2006/main">
              <a:ext uri="{FF2B5EF4-FFF2-40B4-BE49-F238E27FC236}">
                <a16:creationId xmlns:a16="http://schemas.microsoft.com/office/drawing/2014/main" id="{A188A6B5-D355-4854-BC25-A341BA46A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9433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solidFill>
              <a:srgbClr val="FFC857"/>
            </a:solidFill>
            <a:prstDash val="solid"/>
          </a:ln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2A14708-F605-4459-8F07-23863B26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943350"/>
            <a:ext cx="7334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북극성을 handoff와 export의 기준으로 사용</a:t>
            </a:r>
          </a:p>
        </p:txBody>
      </p:sp>
      <p:sp>
        <p:nvSpPr>
          <p:cNvPr id="10" name="bullet-dot">
            <a:extLst xmlns:a="http://schemas.openxmlformats.org/drawingml/2006/main">
              <a:ext uri="{FF2B5EF4-FFF2-40B4-BE49-F238E27FC236}">
                <a16:creationId xmlns:a16="http://schemas.microsoft.com/office/drawing/2014/main" id="{C5432EF6-EF6D-4C35-91F6-9A1D54FB4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438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39A0175-B499-42E6-A286-1C33BB008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438650"/>
            <a:ext cx="7334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결정사항 · 열린 질문 · 다음 액션을 분리</a:t>
            </a:r>
          </a:p>
        </p:txBody>
      </p:sp>
      <p:sp>
        <p:nvSpPr>
          <p:cNvPr id="12" name="bullet-dot">
            <a:extLst xmlns:a="http://schemas.openxmlformats.org/drawingml/2006/main">
              <a:ext uri="{FF2B5EF4-FFF2-40B4-BE49-F238E27FC236}">
                <a16:creationId xmlns:a16="http://schemas.microsoft.com/office/drawing/2014/main" id="{1D116883-5EAE-4DC4-BD78-4609B21D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33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B8FF"/>
          </a:solidFill>
          <a:ln xmlns:a="http://schemas.openxmlformats.org/drawingml/2006/main" w="0">
            <a:solidFill>
              <a:srgbClr val="6EB8FF"/>
            </a:solidFill>
            <a:prstDash val="solid"/>
          </a:ln>
        </p:spPr>
      </p:sp>
      <p:sp>
        <p:nvSpPr>
          <p:cNvPr id="1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77D7090-F29A-47D3-BCBB-D7356241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33950"/>
            <a:ext cx="7334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복사와 markdown 다운로드로 바로 다음 도구에 전달</a:t>
            </a:r>
          </a:p>
        </p:txBody>
      </p:sp>
      <p:sp>
        <p:nvSpPr>
          <p:cNvPr id="14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70E6EA6E-77F2-4F63-B3F5-86C81F560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58300"/>
            <a:ext cx="20574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Verified on Vercel live page</a:t>
            </a:r>
          </a:p>
        </p:txBody>
      </p:sp>
      <p:sp>
        <p:nvSpPr>
          <p:cNvPr id="15" name="footer-url">
            <a:extLst xmlns:a="http://schemas.openxmlformats.org/drawingml/2006/main">
              <a:ext uri="{FF2B5EF4-FFF2-40B4-BE49-F238E27FC236}">
                <a16:creationId xmlns:a16="http://schemas.microsoft.com/office/drawing/2014/main" id="{C7B33FD1-4ED7-40E5-8A4E-C0DE0F6C8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33450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133824124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D134B6F8-89C1-42A3-B132-86207A7B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F"/>
          </a:solidFill>
          <a:ln xmlns:a="http://schemas.openxmlformats.org/drawingml/2006/main" w="0">
            <a:solidFill>
              <a:srgbClr val="FCFA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CA86691-395C-4FCE-866A-06EB81052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5049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05 · Why It Helps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F12FC39-8140-4164-A6C5-A8ED81D7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28700"/>
            <a:ext cx="942975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이 앱의 가치는 요약보다 handoff입니다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82DAC74-28C4-4907-BB5B-4852ADB6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62200"/>
            <a:ext cx="9048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사용자가 원하는 것은 예쁜 정리가 아니라, 다음 AI가 같은 방향으로 이어가는 것입니다.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3A1749-9011-45F4-BE42-5CE05FCED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79629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667085"/>
                </a:solidFill>
              </a:defRPr>
            </a:pPr>
            <a:r>
              <a:rPr sz="4050" b="1">
                <a:solidFill>
                  <a:srgbClr val="667085"/>
                </a:solidFill>
              </a:rPr>
              <a:t>Before</a:t>
            </a:r>
          </a:p>
        </p:txBody>
      </p:sp>
      <p:sp>
        <p:nvSpPr>
          <p:cNvPr id="6" name="bullet-dot">
            <a:extLst xmlns:a="http://schemas.openxmlformats.org/drawingml/2006/main">
              <a:ext uri="{FF2B5EF4-FFF2-40B4-BE49-F238E27FC236}">
                <a16:creationId xmlns:a16="http://schemas.microsoft.com/office/drawing/2014/main" id="{78BA8D9B-2F07-444A-883D-0FBB22772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76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01452B9A-17EA-4826-BE0F-D0165D14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7690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AI마다 기억이 따로 있음</a:t>
            </a:r>
          </a:p>
        </p:txBody>
      </p:sp>
      <p:sp>
        <p:nvSpPr>
          <p:cNvPr id="8" name="bullet-dot">
            <a:extLst xmlns:a="http://schemas.openxmlformats.org/drawingml/2006/main">
              <a:ext uri="{FF2B5EF4-FFF2-40B4-BE49-F238E27FC236}">
                <a16:creationId xmlns:a16="http://schemas.microsoft.com/office/drawing/2014/main" id="{50C1EFAB-CB18-42FF-AC29-9969A3F0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53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E40919FB-F1A2-4BD6-A294-4C7A24C9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15315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같은 배경 설명 반복</a:t>
            </a:r>
          </a:p>
        </p:txBody>
      </p:sp>
      <p:sp>
        <p:nvSpPr>
          <p:cNvPr id="10" name="bullet-dot">
            <a:extLst xmlns:a="http://schemas.openxmlformats.org/drawingml/2006/main">
              <a:ext uri="{FF2B5EF4-FFF2-40B4-BE49-F238E27FC236}">
                <a16:creationId xmlns:a16="http://schemas.microsoft.com/office/drawing/2014/main" id="{3882A502-E3CB-411C-A237-B617F58E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6294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87338C1-6847-4423-9EDB-D77A5097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62940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결정과 아이디어가 섞임</a:t>
            </a:r>
          </a:p>
        </p:txBody>
      </p:sp>
      <p:sp>
        <p:nvSpPr>
          <p:cNvPr id="12" name="bullet-dot">
            <a:extLst xmlns:a="http://schemas.openxmlformats.org/drawingml/2006/main">
              <a:ext uri="{FF2B5EF4-FFF2-40B4-BE49-F238E27FC236}">
                <a16:creationId xmlns:a16="http://schemas.microsoft.com/office/drawing/2014/main" id="{17141E2A-FC1D-4B8A-81D9-6027160C9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105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7085"/>
          </a:solidFill>
          <a:ln xmlns:a="http://schemas.openxmlformats.org/drawingml/2006/main" w="0">
            <a:solidFill>
              <a:srgbClr val="667085"/>
            </a:solidFill>
            <a:prstDash val="solid"/>
          </a:ln>
        </p:spPr>
      </p:sp>
      <p:sp>
        <p:nvSpPr>
          <p:cNvPr id="1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071F0929-FE31-4BB9-83E4-FB0254BC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710565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다음 액션이 대화 속에서 사라짐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11C993-0B35-4489-8FEC-B52BC17E2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953000"/>
            <a:ext cx="79629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6A46E2"/>
                </a:solidFill>
              </a:defRPr>
            </a:pPr>
            <a:r>
              <a:rPr sz="4050" b="1">
                <a:solidFill>
                  <a:srgbClr val="6A46E2"/>
                </a:solidFill>
              </a:rPr>
              <a:t>After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A730F776-95FD-4D7D-B606-E25E2FD75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676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70FC86C6-09C7-4E16-BA37-25660A61C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67690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공통 프로젝트 기억 생성</a:t>
            </a:r>
          </a:p>
        </p:txBody>
      </p:sp>
      <p:sp>
        <p:nvSpPr>
          <p:cNvPr id="17" name="bullet-dot">
            <a:extLst xmlns:a="http://schemas.openxmlformats.org/drawingml/2006/main">
              <a:ext uri="{FF2B5EF4-FFF2-40B4-BE49-F238E27FC236}">
                <a16:creationId xmlns:a16="http://schemas.microsoft.com/office/drawing/2014/main" id="{D402579D-0E5C-4C62-B51A-C0E438FF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1531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C857"/>
          </a:solidFill>
          <a:ln xmlns:a="http://schemas.openxmlformats.org/drawingml/2006/main" w="0">
            <a:solidFill>
              <a:srgbClr val="FFC857"/>
            </a:solidFill>
            <a:prstDash val="solid"/>
          </a:ln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87E1700-36B5-47FD-8728-783189244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15315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북극성으로 방향 유지</a:t>
            </a:r>
          </a:p>
        </p:txBody>
      </p:sp>
      <p:sp>
        <p:nvSpPr>
          <p:cNvPr id="19" name="bullet-dot">
            <a:extLst xmlns:a="http://schemas.openxmlformats.org/drawingml/2006/main">
              <a:ext uri="{FF2B5EF4-FFF2-40B4-BE49-F238E27FC236}">
                <a16:creationId xmlns:a16="http://schemas.microsoft.com/office/drawing/2014/main" id="{8A6FFF1C-34D2-4F08-82FA-07717050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6294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2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0B257254-B1AD-4904-8EC3-A7B5E051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662940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확정/제안/질문/액션 분리</a:t>
            </a:r>
          </a:p>
        </p:txBody>
      </p:sp>
      <p:sp>
        <p:nvSpPr>
          <p:cNvPr id="21" name="bullet-dot">
            <a:extLst xmlns:a="http://schemas.openxmlformats.org/drawingml/2006/main">
              <a:ext uri="{FF2B5EF4-FFF2-40B4-BE49-F238E27FC236}">
                <a16:creationId xmlns:a16="http://schemas.microsoft.com/office/drawing/2014/main" id="{D1635D86-AE3B-43C0-8590-8C87A467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105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B8FF"/>
          </a:solidFill>
          <a:ln xmlns:a="http://schemas.openxmlformats.org/drawingml/2006/main" w="0">
            <a:solidFill>
              <a:srgbClr val="6EB8FF"/>
            </a:solidFill>
            <a:prstDash val="solid"/>
          </a:ln>
        </p:spPr>
      </p:sp>
      <p:sp>
        <p:nvSpPr>
          <p:cNvPr id="2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E1C2446F-909A-462D-B62D-152BDF74F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7105650"/>
            <a:ext cx="7658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도구별 handoff로 바로 이어받기</a:t>
            </a:r>
          </a:p>
        </p:txBody>
      </p:sp>
      <p:sp>
        <p:nvSpPr>
          <p:cNvPr id="23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CC4079D6-59A7-4442-9DD2-BE30D040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29750"/>
            <a:ext cx="2400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맥락 보라돌이 · Context Boradori</a:t>
            </a:r>
          </a:p>
        </p:txBody>
      </p:sp>
      <p:sp>
        <p:nvSpPr>
          <p:cNvPr id="24" name="footer-url">
            <a:extLst xmlns:a="http://schemas.openxmlformats.org/drawingml/2006/main">
              <a:ext uri="{FF2B5EF4-FFF2-40B4-BE49-F238E27FC236}">
                <a16:creationId xmlns:a16="http://schemas.microsoft.com/office/drawing/2014/main" id="{ABE07F78-DD0B-4F78-AAE0-DD3F1DFA8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4297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30390966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2184707-8931-49A8-A026-2D5C459E1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23A358D-6325-40E6-8F21-57C58E37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6002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06 · Tech &amp; Safety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A97A51D-7FA7-40F7-AB9A-3ECD9428E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19200"/>
            <a:ext cx="10363200" cy="1181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MVP는 안전하게, 빠르게, 공개 repo에 맞게 만들었습니다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8704706C-7CE6-4A6B-A20A-CE7A8C22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904875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해커톤에서는 실제 LLM보다 안정적인 데모 흐름과 public-safe 구조가 더 중요합니다.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ABE5E-274D-4A9E-BAC5-4B44C245F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5276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3105B"/>
                </a:solidFill>
              </a:defRPr>
            </a:pPr>
            <a:r>
              <a:rPr sz="3150" b="1">
                <a:solidFill>
                  <a:srgbClr val="23105B"/>
                </a:solidFill>
              </a:rPr>
              <a:t>Frontend</a:t>
            </a:r>
          </a:p>
        </p:txBody>
      </p:sp>
      <p:sp>
        <p:nvSpPr>
          <p:cNvPr id="6" name="bullet-dot">
            <a:extLst xmlns:a="http://schemas.openxmlformats.org/drawingml/2006/main">
              <a:ext uri="{FF2B5EF4-FFF2-40B4-BE49-F238E27FC236}">
                <a16:creationId xmlns:a16="http://schemas.microsoft.com/office/drawing/2014/main" id="{FEA78446-402D-4D69-8F5B-86D7C2308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81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7" name="bullet-text">
            <a:extLst xmlns:a="http://schemas.openxmlformats.org/drawingml/2006/main">
              <a:ext uri="{FF2B5EF4-FFF2-40B4-BE49-F238E27FC236}">
                <a16:creationId xmlns:a16="http://schemas.microsoft.com/office/drawing/2014/main" id="{CBD4AC47-EDCE-487D-8742-03DA4101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9814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Next.js App Router</a:t>
            </a:r>
          </a:p>
        </p:txBody>
      </p:sp>
      <p:sp>
        <p:nvSpPr>
          <p:cNvPr id="8" name="bullet-dot">
            <a:extLst xmlns:a="http://schemas.openxmlformats.org/drawingml/2006/main">
              <a:ext uri="{FF2B5EF4-FFF2-40B4-BE49-F238E27FC236}">
                <a16:creationId xmlns:a16="http://schemas.microsoft.com/office/drawing/2014/main" id="{DBB2AC4E-768D-4481-BCBD-F80021FE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1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9" name="bullet-text">
            <a:extLst xmlns:a="http://schemas.openxmlformats.org/drawingml/2006/main">
              <a:ext uri="{FF2B5EF4-FFF2-40B4-BE49-F238E27FC236}">
                <a16:creationId xmlns:a16="http://schemas.microsoft.com/office/drawing/2014/main" id="{DD7EAFF0-F990-475C-A4A8-8B30914C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8150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TypeScript</a:t>
            </a:r>
          </a:p>
        </p:txBody>
      </p:sp>
      <p:sp>
        <p:nvSpPr>
          <p:cNvPr id="10" name="bullet-dot">
            <a:extLst xmlns:a="http://schemas.openxmlformats.org/drawingml/2006/main">
              <a:ext uri="{FF2B5EF4-FFF2-40B4-BE49-F238E27FC236}">
                <a16:creationId xmlns:a16="http://schemas.microsoft.com/office/drawing/2014/main" id="{2AEC5F23-8A49-4EA2-8BB1-F7E47A16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81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1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FF80B27-A2FA-4B0F-B4CD-8C1D08DB9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815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Tailwind CSS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F70729-C222-493F-A899-01CBC2DC8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48050"/>
            <a:ext cx="5276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3105B"/>
                </a:solidFill>
              </a:defRPr>
            </a:pPr>
            <a:r>
              <a:rPr sz="3150" b="1">
                <a:solidFill>
                  <a:srgbClr val="23105B"/>
                </a:solidFill>
              </a:rPr>
              <a:t>Local-first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88F9EBDE-5A5A-4F30-8B7A-ADBFB1A90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81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085D13C-E111-4258-BBD3-489BDE4F1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9814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외부 AI API 호출 없음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BB8FEAC8-A85F-4AAD-8BF8-A5FF8F991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1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B9CCE40A-2CFB-494A-98D1-752462DD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8150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유료 DB 없음</a:t>
            </a:r>
          </a:p>
        </p:txBody>
      </p:sp>
      <p:sp>
        <p:nvSpPr>
          <p:cNvPr id="17" name="bullet-dot">
            <a:extLst xmlns:a="http://schemas.openxmlformats.org/drawingml/2006/main">
              <a:ext uri="{FF2B5EF4-FFF2-40B4-BE49-F238E27FC236}">
                <a16:creationId xmlns:a16="http://schemas.microsoft.com/office/drawing/2014/main" id="{5E21EB0D-5A6A-40B9-9640-2E507F2FB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781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1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1F815BF-662D-42A6-8105-E56098AC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7815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브라우저 localStorage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A6CDCB-25DE-486A-9D43-DE7E18A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448050"/>
            <a:ext cx="52768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3105B"/>
                </a:solidFill>
              </a:defRPr>
            </a:pPr>
            <a:r>
              <a:rPr sz="3150" b="1">
                <a:solidFill>
                  <a:srgbClr val="23105B"/>
                </a:solidFill>
              </a:rPr>
              <a:t>Public-safe</a:t>
            </a:r>
          </a:p>
        </p:txBody>
      </p:sp>
      <p:sp>
        <p:nvSpPr>
          <p:cNvPr id="20" name="bullet-dot">
            <a:extLst xmlns:a="http://schemas.openxmlformats.org/drawingml/2006/main">
              <a:ext uri="{FF2B5EF4-FFF2-40B4-BE49-F238E27FC236}">
                <a16:creationId xmlns:a16="http://schemas.microsoft.com/office/drawing/2014/main" id="{9CD7CDFE-A956-49D9-A100-3E1BA47E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3981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0C6"/>
          </a:solidFill>
          <a:ln xmlns:a="http://schemas.openxmlformats.org/drawingml/2006/main" w="0">
            <a:solidFill>
              <a:srgbClr val="FFB0C6"/>
            </a:solidFill>
            <a:prstDash val="solid"/>
          </a:ln>
        </p:spPr>
      </p:sp>
      <p:sp>
        <p:nvSpPr>
          <p:cNvPr id="21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B27DAE2-038B-430D-9C96-3F589E94B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9814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API key/token redaction</a:t>
            </a:r>
          </a:p>
        </p:txBody>
      </p:sp>
      <p:sp>
        <p:nvSpPr>
          <p:cNvPr id="22" name="bullet-dot">
            <a:extLst xmlns:a="http://schemas.openxmlformats.org/drawingml/2006/main">
              <a:ext uri="{FF2B5EF4-FFF2-40B4-BE49-F238E27FC236}">
                <a16:creationId xmlns:a16="http://schemas.microsoft.com/office/drawing/2014/main" id="{5F588402-169D-4957-A180-8FB24304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3815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0C6"/>
          </a:solidFill>
          <a:ln xmlns:a="http://schemas.openxmlformats.org/drawingml/2006/main" w="0">
            <a:solidFill>
              <a:srgbClr val="FFB0C6"/>
            </a:solidFill>
            <a:prstDash val="solid"/>
          </a:ln>
        </p:spPr>
      </p:sp>
      <p:sp>
        <p:nvSpPr>
          <p:cNvPr id="23" name="bullet-text">
            <a:extLst xmlns:a="http://schemas.openxmlformats.org/drawingml/2006/main">
              <a:ext uri="{FF2B5EF4-FFF2-40B4-BE49-F238E27FC236}">
                <a16:creationId xmlns:a16="http://schemas.microsoft.com/office/drawing/2014/main" id="{7F752584-2C8A-464B-92FC-AC0CF173D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438150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raw context 서버 저장 없음</a:t>
            </a:r>
          </a:p>
        </p:txBody>
      </p:sp>
      <p:sp>
        <p:nvSpPr>
          <p:cNvPr id="24" name="bullet-dot">
            <a:extLst xmlns:a="http://schemas.openxmlformats.org/drawingml/2006/main">
              <a:ext uri="{FF2B5EF4-FFF2-40B4-BE49-F238E27FC236}">
                <a16:creationId xmlns:a16="http://schemas.microsoft.com/office/drawing/2014/main" id="{466E9D13-B66D-4EC7-AC7F-A6C9DF44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781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0C6"/>
          </a:solidFill>
          <a:ln xmlns:a="http://schemas.openxmlformats.org/drawingml/2006/main" w="0">
            <a:solidFill>
              <a:srgbClr val="FFB0C6"/>
            </a:solidFill>
            <a:prstDash val="solid"/>
          </a:ln>
        </p:spPr>
      </p:sp>
      <p:sp>
        <p:nvSpPr>
          <p:cNvPr id="25" name="bullet-text">
            <a:extLst xmlns:a="http://schemas.openxmlformats.org/drawingml/2006/main">
              <a:ext uri="{FF2B5EF4-FFF2-40B4-BE49-F238E27FC236}">
                <a16:creationId xmlns:a16="http://schemas.microsoft.com/office/drawing/2014/main" id="{046BBC51-D635-43D4-BD16-474A2DD1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4781550"/>
            <a:ext cx="49720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GitHub README 언어 전환</a:t>
            </a:r>
          </a:p>
        </p:txBody>
      </p:sp>
      <p:sp>
        <p:nvSpPr>
          <p:cNvPr id="26" name="pill-Verified">
            <a:extLst xmlns:a="http://schemas.openxmlformats.org/drawingml/2006/main">
              <a:ext uri="{FF2B5EF4-FFF2-40B4-BE49-F238E27FC236}">
                <a16:creationId xmlns:a16="http://schemas.microsoft.com/office/drawing/2014/main" id="{F8665560-A228-4106-BFFB-2B87128EA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8953500"/>
            <a:ext cx="1209770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3105B"/>
          </a:solidFill>
          <a:ln xmlns:a="http://schemas.openxmlformats.org/drawingml/2006/main" w="9525">
            <a:solidFill>
              <a:srgbClr val="23105B"/>
            </a:solidFill>
            <a:prstDash val="solid"/>
          </a:ln>
        </p:spPr>
      </p:sp>
      <p:sp>
        <p:nvSpPr>
          <p:cNvPr id="27" name="pill-label">
            <a:extLst xmlns:a="http://schemas.openxmlformats.org/drawingml/2006/main">
              <a:ext uri="{FF2B5EF4-FFF2-40B4-BE49-F238E27FC236}">
                <a16:creationId xmlns:a16="http://schemas.microsoft.com/office/drawing/2014/main" id="{6FE937A7-DC45-4647-86D8-B42BC9D7B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67800"/>
            <a:ext cx="7620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Verified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C95575F-C39C-494B-85AA-E46766A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9144000"/>
            <a:ext cx="150685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F2937"/>
                </a:solidFill>
              </a:defRPr>
            </a:pPr>
            <a:r>
              <a:rPr sz="2100" b="1">
                <a:solidFill>
                  <a:srgbClr val="1F2937"/>
                </a:solidFill>
              </a:rPr>
              <a:t>lint · build · browser QA · Vercel live 200</a:t>
            </a:r>
          </a:p>
        </p:txBody>
      </p:sp>
    </p:spTree>
    <p:extLst>
      <p:ext uri="{BB962C8B-B14F-4D97-AF65-F5344CB8AC3E}">
        <p14:creationId xmlns:p14="http://schemas.microsoft.com/office/powerpoint/2010/main" val="94769991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624E8012-8119-444E-A1CC-246B35E21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FAFF"/>
          </a:solidFill>
          <a:ln xmlns:a="http://schemas.openxmlformats.org/drawingml/2006/main" w="0">
            <a:solidFill>
              <a:srgbClr val="FCFAFF"/>
            </a:solidFill>
            <a:prstDash val="solid"/>
          </a:ln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176AA5AC-6B22-4BDB-B9EF-7D4D9960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"/>
            <a:ext cx="12573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8A5CF6"/>
                </a:solidFill>
              </a:defRPr>
            </a:pPr>
            <a:r>
              <a:rPr sz="1500" b="1">
                <a:solidFill>
                  <a:srgbClr val="8A5CF6"/>
                </a:solidFill>
              </a:rPr>
              <a:t>07 · Roadmap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7C93BE-F7A8-45F0-AA07-8555EC61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19200"/>
            <a:ext cx="57721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650" b="1">
                <a:solidFill>
                  <a:srgbClr val="23105B"/>
                </a:solidFill>
              </a:defRPr>
            </a:pPr>
            <a:r>
              <a:rPr sz="4650" b="1">
                <a:solidFill>
                  <a:srgbClr val="23105B"/>
                </a:solidFill>
              </a:rPr>
              <a:t>다음 단계: 품질과 연결성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7DCEEBF-B9D7-43DE-9F8A-CF435EE7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9944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667085"/>
                </a:solidFill>
              </a:defRPr>
            </a:pPr>
            <a:r>
              <a:rPr sz="2100">
                <a:solidFill>
                  <a:srgbClr val="667085"/>
                </a:solidFill>
              </a:rPr>
              <a:t>지금은 mock compression으로 스토리를 증명했고, 다음은 실제 사용성을 높이는 순서입니다.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B4A6D-5C85-4AED-B016-41D3F849D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33950"/>
            <a:ext cx="523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6A46E2"/>
                </a:solidFill>
              </a:defRPr>
            </a:pPr>
            <a:r>
              <a:rPr sz="2250" b="1">
                <a:solidFill>
                  <a:srgbClr val="6A46E2"/>
                </a:solidFill>
              </a:rPr>
              <a:t>P1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97D98E-C214-4EC3-ACC4-EA8338D17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1150"/>
            <a:ext cx="5238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105B"/>
                </a:solidFill>
              </a:defRPr>
            </a:pPr>
            <a:r>
              <a:rPr sz="3600" b="1">
                <a:solidFill>
                  <a:srgbClr val="23105B"/>
                </a:solidFill>
              </a:rPr>
              <a:t>신뢰도</a:t>
            </a:r>
          </a:p>
        </p:txBody>
      </p:sp>
      <p:sp>
        <p:nvSpPr>
          <p:cNvPr id="7" name="bullet-dot">
            <a:extLst xmlns:a="http://schemas.openxmlformats.org/drawingml/2006/main">
              <a:ext uri="{FF2B5EF4-FFF2-40B4-BE49-F238E27FC236}">
                <a16:creationId xmlns:a16="http://schemas.microsoft.com/office/drawing/2014/main" id="{F58BE1F4-524C-4591-91D6-BEA2AD93C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1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8" name="bullet-text">
            <a:extLst xmlns:a="http://schemas.openxmlformats.org/drawingml/2006/main">
              <a:ext uri="{FF2B5EF4-FFF2-40B4-BE49-F238E27FC236}">
                <a16:creationId xmlns:a16="http://schemas.microsoft.com/office/drawing/2014/main" id="{558FC2E4-C8E0-4372-817B-683FCC12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01980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실제 LLM compression</a:t>
            </a:r>
          </a:p>
        </p:txBody>
      </p:sp>
      <p:sp>
        <p:nvSpPr>
          <p:cNvPr id="9" name="bullet-dot">
            <a:extLst xmlns:a="http://schemas.openxmlformats.org/drawingml/2006/main">
              <a:ext uri="{FF2B5EF4-FFF2-40B4-BE49-F238E27FC236}">
                <a16:creationId xmlns:a16="http://schemas.microsoft.com/office/drawing/2014/main" id="{61480A78-1663-42A9-9949-CCE37CA8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457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A46E2"/>
          </a:solidFill>
          <a:ln xmlns:a="http://schemas.openxmlformats.org/drawingml/2006/main" w="0">
            <a:solidFill>
              <a:srgbClr val="6A46E2"/>
            </a:solidFill>
            <a:prstDash val="solid"/>
          </a:ln>
        </p:spPr>
      </p:sp>
      <p:sp>
        <p:nvSpPr>
          <p:cNvPr id="1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8D9F0294-D647-4F4A-9ACA-2B45963CF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64579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강한 secret redaction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3EFD4E-86A5-446D-917F-789C2EEBF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33950"/>
            <a:ext cx="523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6EB8FF"/>
                </a:solidFill>
              </a:defRPr>
            </a:pPr>
            <a:r>
              <a:rPr sz="2250" b="1">
                <a:solidFill>
                  <a:srgbClr val="6EB8FF"/>
                </a:solidFill>
              </a:rPr>
              <a:t>P2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F3D10-7CDF-4C1D-B0BA-D157C2E0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391150"/>
            <a:ext cx="5238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105B"/>
                </a:solidFill>
              </a:defRPr>
            </a:pPr>
            <a:r>
              <a:rPr sz="3600" b="1">
                <a:solidFill>
                  <a:srgbClr val="23105B"/>
                </a:solidFill>
              </a:rPr>
              <a:t>기억</a:t>
            </a:r>
          </a:p>
        </p:txBody>
      </p:sp>
      <p:sp>
        <p:nvSpPr>
          <p:cNvPr id="13" name="bullet-dot">
            <a:extLst xmlns:a="http://schemas.openxmlformats.org/drawingml/2006/main">
              <a:ext uri="{FF2B5EF4-FFF2-40B4-BE49-F238E27FC236}">
                <a16:creationId xmlns:a16="http://schemas.microsoft.com/office/drawing/2014/main" id="{37457C39-9A9F-49D1-A92C-16120887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01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B8FF"/>
          </a:solidFill>
          <a:ln xmlns:a="http://schemas.openxmlformats.org/drawingml/2006/main" w="0">
            <a:solidFill>
              <a:srgbClr val="6EB8FF"/>
            </a:solidFill>
            <a:prstDash val="solid"/>
          </a:ln>
        </p:spPr>
      </p:sp>
      <p:sp>
        <p:nvSpPr>
          <p:cNvPr id="14" name="bullet-text">
            <a:extLst xmlns:a="http://schemas.openxmlformats.org/drawingml/2006/main">
              <a:ext uri="{FF2B5EF4-FFF2-40B4-BE49-F238E27FC236}">
                <a16:creationId xmlns:a16="http://schemas.microsoft.com/office/drawing/2014/main" id="{732991C5-CC5C-4A6B-BCFF-F70436E7B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01980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IndexedDB 프로젝트 저장</a:t>
            </a:r>
          </a:p>
        </p:txBody>
      </p:sp>
      <p:sp>
        <p:nvSpPr>
          <p:cNvPr id="15" name="bullet-dot">
            <a:extLst xmlns:a="http://schemas.openxmlformats.org/drawingml/2006/main">
              <a:ext uri="{FF2B5EF4-FFF2-40B4-BE49-F238E27FC236}">
                <a16:creationId xmlns:a16="http://schemas.microsoft.com/office/drawing/2014/main" id="{F78F6ACD-14C1-4B7A-AD42-F2509FC5C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457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EB8FF"/>
          </a:solidFill>
          <a:ln xmlns:a="http://schemas.openxmlformats.org/drawingml/2006/main" w="0">
            <a:solidFill>
              <a:srgbClr val="6EB8FF"/>
            </a:solidFill>
            <a:prstDash val="solid"/>
          </a:ln>
        </p:spPr>
      </p:sp>
      <p:sp>
        <p:nvSpPr>
          <p:cNvPr id="16" name="bullet-text">
            <a:extLst xmlns:a="http://schemas.openxmlformats.org/drawingml/2006/main">
              <a:ext uri="{FF2B5EF4-FFF2-40B4-BE49-F238E27FC236}">
                <a16:creationId xmlns:a16="http://schemas.microsoft.com/office/drawing/2014/main" id="{3D95444E-26AE-4E01-AE5E-1A60B151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4579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충돌 감지 / diff view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AF5B27-1388-4CFB-AD04-CCBE4422D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4933950"/>
            <a:ext cx="5238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74E3C1"/>
                </a:solidFill>
              </a:defRPr>
            </a:pPr>
            <a:r>
              <a:rPr sz="2250" b="1">
                <a:solidFill>
                  <a:srgbClr val="74E3C1"/>
                </a:solidFill>
              </a:rPr>
              <a:t>P3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250AC1-A6BF-440B-87DA-85CBDC96A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5391150"/>
            <a:ext cx="5238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23105B"/>
                </a:solidFill>
              </a:defRPr>
            </a:pPr>
            <a:r>
              <a:rPr sz="3600" b="1">
                <a:solidFill>
                  <a:srgbClr val="23105B"/>
                </a:solidFill>
              </a:rPr>
              <a:t>연결</a:t>
            </a:r>
          </a:p>
        </p:txBody>
      </p:sp>
      <p:sp>
        <p:nvSpPr>
          <p:cNvPr id="19" name="bullet-dot">
            <a:extLst xmlns:a="http://schemas.openxmlformats.org/drawingml/2006/main">
              <a:ext uri="{FF2B5EF4-FFF2-40B4-BE49-F238E27FC236}">
                <a16:creationId xmlns:a16="http://schemas.microsoft.com/office/drawing/2014/main" id="{901951B2-0BB1-4D78-ABAD-54D89DC8A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60198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20" name="bullet-text">
            <a:extLst xmlns:a="http://schemas.openxmlformats.org/drawingml/2006/main">
              <a:ext uri="{FF2B5EF4-FFF2-40B4-BE49-F238E27FC236}">
                <a16:creationId xmlns:a16="http://schemas.microsoft.com/office/drawing/2014/main" id="{2473FF91-0626-4514-8991-5B80B3280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601980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GitHub PR export</a:t>
            </a:r>
          </a:p>
        </p:txBody>
      </p:sp>
      <p:sp>
        <p:nvSpPr>
          <p:cNvPr id="21" name="bullet-dot">
            <a:extLst xmlns:a="http://schemas.openxmlformats.org/drawingml/2006/main">
              <a:ext uri="{FF2B5EF4-FFF2-40B4-BE49-F238E27FC236}">
                <a16:creationId xmlns:a16="http://schemas.microsoft.com/office/drawing/2014/main" id="{1D8EE7EA-B058-47EC-AE8E-9D37CCC2A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34850" y="64579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E3C1"/>
          </a:solidFill>
          <a:ln xmlns:a="http://schemas.openxmlformats.org/drawingml/2006/main" w="0">
            <a:solidFill>
              <a:srgbClr val="74E3C1"/>
            </a:solidFill>
            <a:prstDash val="solid"/>
          </a:ln>
        </p:spPr>
      </p:sp>
      <p:sp>
        <p:nvSpPr>
          <p:cNvPr id="22" name="bullet-text">
            <a:extLst xmlns:a="http://schemas.openxmlformats.org/drawingml/2006/main">
              <a:ext uri="{FF2B5EF4-FFF2-40B4-BE49-F238E27FC236}">
                <a16:creationId xmlns:a16="http://schemas.microsoft.com/office/drawing/2014/main" id="{6478AD62-7494-483A-A03D-D6C1267C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9650" y="64579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F2937"/>
                </a:solidFill>
              </a:defRPr>
            </a:pPr>
            <a:r>
              <a:rPr sz="2100">
                <a:solidFill>
                  <a:srgbClr val="1F2937"/>
                </a:solidFill>
              </a:rPr>
              <a:t>MCP / CLI handoff</a:t>
            </a:r>
          </a:p>
        </p:txBody>
      </p:sp>
      <p:sp>
        <p:nvSpPr>
          <p:cNvPr id="23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9A57B703-C6ED-4317-909B-087147C5A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429750"/>
            <a:ext cx="240030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맥락 보라돌이 · Context Boradori</a:t>
            </a:r>
          </a:p>
        </p:txBody>
      </p:sp>
      <p:sp>
        <p:nvSpPr>
          <p:cNvPr id="24" name="footer-url">
            <a:extLst xmlns:a="http://schemas.openxmlformats.org/drawingml/2006/main">
              <a:ext uri="{FF2B5EF4-FFF2-40B4-BE49-F238E27FC236}">
                <a16:creationId xmlns:a16="http://schemas.microsoft.com/office/drawing/2014/main" id="{4F8EABB8-DED9-4E18-9E12-0962E22D6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42975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117882107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background">
            <a:extLst xmlns:a="http://schemas.openxmlformats.org/drawingml/2006/main">
              <a:ext uri="{FF2B5EF4-FFF2-40B4-BE49-F238E27FC236}">
                <a16:creationId xmlns:a16="http://schemas.microsoft.com/office/drawing/2014/main" id="{B165AC95-1F0D-4A00-A41A-024F161A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6F33A-2D73-428C-9FA7-B2256072A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38450"/>
            <a:ext cx="6038850" cy="2171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700" b="1">
                <a:solidFill>
                  <a:srgbClr val="23105B"/>
                </a:solidFill>
              </a:defRPr>
            </a:pPr>
            <a:r>
              <a:rPr sz="5700" b="1">
                <a:solidFill>
                  <a:srgbClr val="23105B"/>
                </a:solidFill>
              </a:rPr>
              <a:t>맥락 보라돌이는</a:t>
            </a:r>
          </a:p>
          <a:p xmlns:a="http://schemas.openxmlformats.org/drawingml/2006/main">
            <a:pPr>
              <a:defRPr sz="5700" b="1">
                <a:solidFill>
                  <a:srgbClr val="23105B"/>
                </a:solidFill>
              </a:defRPr>
            </a:pPr>
            <a:r>
              <a:rPr sz="5700" b="1">
                <a:solidFill>
                  <a:srgbClr val="23105B"/>
                </a:solidFill>
              </a:rPr>
              <a:t>AI 도구 사이의</a:t>
            </a:r>
          </a:p>
          <a:p xmlns:a="http://schemas.openxmlformats.org/drawingml/2006/main">
            <a:pPr>
              <a:defRPr sz="5700" b="1">
                <a:solidFill>
                  <a:srgbClr val="23105B"/>
                </a:solidFill>
              </a:defRPr>
            </a:pPr>
            <a:r>
              <a:rPr sz="5700" b="1">
                <a:solidFill>
                  <a:srgbClr val="23105B"/>
                </a:solidFill>
              </a:rPr>
              <a:t>작업 기억을 잇습니다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B956A2-A30C-4BA1-A8DB-DF5C0B40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8039100" cy="571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>
                <a:solidFill>
                  <a:srgbClr val="667085"/>
                </a:solidFill>
              </a:defRPr>
            </a:pPr>
            <a:r>
              <a:rPr sz="2250">
                <a:solidFill>
                  <a:srgbClr val="667085"/>
                </a:solidFill>
              </a:rPr>
              <a:t>여러 도구를 쓰는 사람에게 필요한 것은 또 하나의 채팅창이 아니라, 다음 AI가 믿고 이어받을 공통맥락입니다.</a:t>
            </a:r>
          </a:p>
        </p:txBody>
      </p:sp>
      <p:sp>
        <p:nvSpPr>
          <p:cNvPr id="4" name="pill-GitHub rep">
            <a:extLst xmlns:a="http://schemas.openxmlformats.org/drawingml/2006/main">
              <a:ext uri="{FF2B5EF4-FFF2-40B4-BE49-F238E27FC236}">
                <a16:creationId xmlns:a16="http://schemas.microsoft.com/office/drawing/2014/main" id="{11F25F9D-2891-42E9-AC0E-523D5CCC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15050"/>
            <a:ext cx="1664113" cy="438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A46E2"/>
          </a:solidFill>
          <a:ln xmlns:a="http://schemas.openxmlformats.org/drawingml/2006/main" w="9525">
            <a:solidFill>
              <a:srgbClr val="6A46E2"/>
            </a:solidFill>
            <a:prstDash val="solid"/>
          </a:ln>
        </p:spPr>
      </p:sp>
      <p:sp>
        <p:nvSpPr>
          <p:cNvPr id="5" name="pill-label">
            <a:extLst xmlns:a="http://schemas.openxmlformats.org/drawingml/2006/main">
              <a:ext uri="{FF2B5EF4-FFF2-40B4-BE49-F238E27FC236}">
                <a16:creationId xmlns:a16="http://schemas.microsoft.com/office/drawing/2014/main" id="{E098DF96-6AA2-4415-9A82-3F080F9FC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29350"/>
            <a:ext cx="12001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GitHub repo</a:t>
            </a:r>
          </a:p>
        </p:txBody>
      </p:sp>
      <p:sp>
        <p:nvSpPr>
          <p:cNvPr id="6" name="pill-Vercel liv">
            <a:extLst xmlns:a="http://schemas.openxmlformats.org/drawingml/2006/main">
              <a:ext uri="{FF2B5EF4-FFF2-40B4-BE49-F238E27FC236}">
                <a16:creationId xmlns:a16="http://schemas.microsoft.com/office/drawing/2014/main" id="{A2549B56-6FB1-46C9-A277-30F84AEAA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0913" y="6115050"/>
            <a:ext cx="1466088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C857"/>
          </a:solidFill>
          <a:ln xmlns:a="http://schemas.openxmlformats.org/drawingml/2006/main" w="9525">
            <a:solidFill>
              <a:srgbClr val="FFC857"/>
            </a:solidFill>
            <a:prstDash val="solid"/>
          </a:ln>
        </p:spPr>
      </p:sp>
      <p:sp>
        <p:nvSpPr>
          <p:cNvPr id="7" name="pill-label">
            <a:extLst xmlns:a="http://schemas.openxmlformats.org/drawingml/2006/main">
              <a:ext uri="{FF2B5EF4-FFF2-40B4-BE49-F238E27FC236}">
                <a16:creationId xmlns:a16="http://schemas.microsoft.com/office/drawing/2014/main" id="{6ABE2603-AE5B-4170-8143-4B233AE66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6229350"/>
            <a:ext cx="10096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105B"/>
                </a:solidFill>
              </a:defRPr>
            </a:pPr>
            <a:r>
              <a:rPr sz="1650" b="1">
                <a:solidFill>
                  <a:srgbClr val="23105B"/>
                </a:solidFill>
              </a:rPr>
              <a:t>Vercel live</a:t>
            </a:r>
          </a:p>
        </p:txBody>
      </p:sp>
      <p:sp>
        <p:nvSpPr>
          <p:cNvPr id="8" name="pill-English vi">
            <a:extLst xmlns:a="http://schemas.openxmlformats.org/drawingml/2006/main">
              <a:ext uri="{FF2B5EF4-FFF2-40B4-BE49-F238E27FC236}">
                <a16:creationId xmlns:a16="http://schemas.microsoft.com/office/drawing/2014/main" id="{DB2EBB7C-11A9-4996-9673-CC9393279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401" y="6115050"/>
            <a:ext cx="1702403" cy="647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74E3C1"/>
          </a:solidFill>
          <a:ln xmlns:a="http://schemas.openxmlformats.org/drawingml/2006/main" w="9525">
            <a:solidFill>
              <a:srgbClr val="74E3C1"/>
            </a:solidFill>
            <a:prstDash val="solid"/>
          </a:ln>
        </p:spPr>
      </p:sp>
      <p:sp>
        <p:nvSpPr>
          <p:cNvPr id="9" name="pill-label">
            <a:extLst xmlns:a="http://schemas.openxmlformats.org/drawingml/2006/main">
              <a:ext uri="{FF2B5EF4-FFF2-40B4-BE49-F238E27FC236}">
                <a16:creationId xmlns:a16="http://schemas.microsoft.com/office/drawing/2014/main" id="{BDD4032B-6DF0-4630-BE49-D8A6891E1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229350"/>
            <a:ext cx="12382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3105B"/>
                </a:solidFill>
              </a:defRPr>
            </a:pPr>
            <a:r>
              <a:rPr sz="1650" b="1">
                <a:solidFill>
                  <a:srgbClr val="23105B"/>
                </a:solidFill>
              </a:rPr>
              <a:t>English view</a:t>
            </a:r>
          </a:p>
        </p:txBody>
      </p:sp>
      <p:pic>
        <p:nvPicPr>
          <p:cNvPr id="10" name="closing-brand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3b0a2f3ffb4c74"/>
          <a:srcRect xmlns:a="http://schemas.openxmlformats.org/drawingml/2006/main" l="0" t="4997" r="0" b="49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056341" y="685800"/>
            <a:ext cx="7317259" cy="8229600"/>
          </a:xfrm>
          <a:prstGeom xmlns:a="http://schemas.openxmlformats.org/drawingml/2006/main" prst="roundRect">
            <a:avLst>
              <a:gd name="adj" fmla="val 1041"/>
            </a:avLst>
          </a:prstGeom>
        </p:spPr>
      </p:pic>
      <p:sp>
        <p:nvSpPr>
          <p:cNvPr id="11" name="footer-label">
            <a:extLst xmlns:a="http://schemas.openxmlformats.org/drawingml/2006/main">
              <a:ext uri="{FF2B5EF4-FFF2-40B4-BE49-F238E27FC236}">
                <a16:creationId xmlns:a16="http://schemas.microsoft.com/office/drawing/2014/main" id="{6739D00D-D426-40C5-8D52-205D335A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258300"/>
            <a:ext cx="7429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67085"/>
                </a:solidFill>
              </a:defRPr>
            </a:pPr>
            <a:r>
              <a:rPr sz="1350">
                <a:solidFill>
                  <a:srgbClr val="667085"/>
                </a:solidFill>
              </a:rPr>
              <a:t>감사합니다</a:t>
            </a:r>
          </a:p>
        </p:txBody>
      </p:sp>
      <p:sp>
        <p:nvSpPr>
          <p:cNvPr id="12" name="footer-url">
            <a:extLst xmlns:a="http://schemas.openxmlformats.org/drawingml/2006/main">
              <a:ext uri="{FF2B5EF4-FFF2-40B4-BE49-F238E27FC236}">
                <a16:creationId xmlns:a16="http://schemas.microsoft.com/office/drawing/2014/main" id="{01A6C7AF-DD59-47D7-8B9C-F0EEFF4F0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97050" y="9334500"/>
            <a:ext cx="28765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A46E2"/>
                </a:solidFill>
              </a:defRPr>
            </a:pPr>
            <a:r>
              <a:rPr sz="1350" b="1">
                <a:solidFill>
                  <a:srgbClr val="6A46E2"/>
                </a:solidFill>
              </a:rPr>
              <a:t>https://context-boradori.vercel.app</a:t>
            </a:r>
          </a:p>
        </p:txBody>
      </p:sp>
    </p:spTree>
    <p:extLst>
      <p:ext uri="{BB962C8B-B14F-4D97-AF65-F5344CB8AC3E}">
        <p14:creationId xmlns:p14="http://schemas.microsoft.com/office/powerpoint/2010/main" val="81541519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2026-04-26T04:38:13.3420000Z</dcterms:created>
  <dcterms:modified xsi:type="dcterms:W3CDTF">2026-04-26T04:38:13.3420000Z</dcterms:modified>
</coreProperties>
</file>